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107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858000"/>
          </a:xfrm>
          <a:prstGeom prst="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20416" y="2194560"/>
            <a:ext cx="9412128" cy="2308324"/>
          </a:xfrm>
          <a:prstGeom prst="rect">
            <a:avLst/>
          </a:prstGeom>
          <a:noFill/>
        </p:spPr>
        <p:txBody>
          <a:bodyPr wrap="none">
            <a:spAutoFit/>
          </a:bodyPr>
          <a:lstStyle/>
          <a:p>
            <a:pPr algn="ctr"/>
            <a:r>
              <a:rPr sz="4400" b="1" dirty="0">
                <a:solidFill>
                  <a:srgbClr val="FFFFFF"/>
                </a:solidFill>
              </a:rPr>
              <a:t>Transitioning </a:t>
            </a:r>
            <a:r>
              <a:rPr sz="4400" b="1" dirty="0" err="1">
                <a:solidFill>
                  <a:srgbClr val="FFFFFF"/>
                </a:solidFill>
              </a:rPr>
              <a:t>ChadaTech</a:t>
            </a:r>
            <a:r>
              <a:rPr sz="4400" b="1" dirty="0">
                <a:solidFill>
                  <a:srgbClr val="FFFFFF"/>
                </a:solidFill>
              </a:rPr>
              <a:t> to Scrum-Agile</a:t>
            </a:r>
          </a:p>
          <a:p>
            <a:pPr algn="ctr">
              <a:defRPr sz="2600">
                <a:solidFill>
                  <a:srgbClr val="DCEBF5"/>
                </a:solidFill>
              </a:defRPr>
            </a:pPr>
            <a:r>
              <a:rPr dirty="0"/>
              <a:t>SNHU Travel Pilot Results</a:t>
            </a:r>
            <a:endParaRPr lang="en-US" dirty="0"/>
          </a:p>
          <a:p>
            <a:pPr algn="ctr">
              <a:defRPr sz="2600">
                <a:solidFill>
                  <a:srgbClr val="DCEBF5"/>
                </a:solidFill>
              </a:defRPr>
            </a:pPr>
            <a:r>
              <a:rPr lang="en-US" sz="2600" dirty="0"/>
              <a:t>Internal Development Methodology Recommendation</a:t>
            </a:r>
          </a:p>
          <a:p>
            <a:pPr algn="ctr">
              <a:defRPr sz="2600">
                <a:solidFill>
                  <a:srgbClr val="DCEBF5"/>
                </a:solidFill>
              </a:defRPr>
            </a:pPr>
            <a:endParaRPr dirty="0"/>
          </a:p>
          <a:p>
            <a:pPr algn="ctr">
              <a:defRPr sz="2200">
                <a:solidFill>
                  <a:srgbClr val="DCEBF5"/>
                </a:solidFill>
              </a:defRPr>
            </a:pPr>
            <a:r>
              <a:rPr dirty="0"/>
              <a:t>Spencer Rosenberry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15088" y="137160"/>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40080"/>
          </a:xfrm>
          <a:prstGeom prst="rect">
            <a:avLst/>
          </a:prstGeom>
          <a:noFill/>
        </p:spPr>
        <p:txBody>
          <a:bodyPr wrap="none">
            <a:spAutoFit/>
          </a:bodyPr>
          <a:lstStyle/>
          <a:p>
            <a:pPr algn="l"/>
            <a:r>
              <a:rPr sz="3600" b="1">
                <a:solidFill>
                  <a:srgbClr val="FFFFFF"/>
                </a:solidFill>
              </a:rPr>
              <a:t>Scrum-Agile Roles</a:t>
            </a:r>
          </a:p>
        </p:txBody>
      </p:sp>
      <p:sp>
        <p:nvSpPr>
          <p:cNvPr id="4" name="Rectangle 3"/>
          <p:cNvSpPr/>
          <p:nvPr/>
        </p:nvSpPr>
        <p:spPr>
          <a:xfrm>
            <a:off x="548640" y="1005840"/>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5669280" cy="3888244"/>
          </a:xfrm>
          <a:prstGeom prst="rect">
            <a:avLst/>
          </a:prstGeom>
          <a:noFill/>
        </p:spPr>
        <p:txBody>
          <a:bodyPr wrap="square">
            <a:spAutoFit/>
          </a:bodyPr>
          <a:lstStyle/>
          <a:p>
            <a:pPr algn="l">
              <a:spcAft>
                <a:spcPts val="800"/>
              </a:spcAft>
              <a:defRPr sz="2000">
                <a:solidFill>
                  <a:srgbClr val="DCEBF5"/>
                </a:solidFill>
              </a:defRPr>
            </a:pPr>
            <a:r>
              <a:rPr dirty="0"/>
              <a:t>Scrum defines three core roles that share ownership of delivery and outcomes:</a:t>
            </a:r>
          </a:p>
          <a:p>
            <a:pPr algn="l">
              <a:spcAft>
                <a:spcPts val="800"/>
              </a:spcAft>
              <a:defRPr sz="2000">
                <a:solidFill>
                  <a:srgbClr val="DCEBF5"/>
                </a:solidFill>
              </a:defRPr>
            </a:pPr>
            <a:r>
              <a:rPr dirty="0"/>
              <a:t>• Product Owner: prioritizes value and clarifies user needs</a:t>
            </a:r>
          </a:p>
          <a:p>
            <a:pPr algn="l">
              <a:spcAft>
                <a:spcPts val="800"/>
              </a:spcAft>
              <a:defRPr sz="2000">
                <a:solidFill>
                  <a:srgbClr val="DCEBF5"/>
                </a:solidFill>
              </a:defRPr>
            </a:pPr>
            <a:r>
              <a:rPr dirty="0"/>
              <a:t>• Scrum Master: facilitates the process and removes impediments</a:t>
            </a:r>
          </a:p>
          <a:p>
            <a:pPr algn="l">
              <a:spcAft>
                <a:spcPts val="800"/>
              </a:spcAft>
              <a:defRPr sz="2000">
                <a:solidFill>
                  <a:srgbClr val="DCEBF5"/>
                </a:solidFill>
              </a:defRPr>
            </a:pPr>
            <a:r>
              <a:rPr dirty="0"/>
              <a:t>• Development Team: designs, builds, and tests each increment</a:t>
            </a:r>
          </a:p>
          <a:p>
            <a:pPr>
              <a:spcAft>
                <a:spcPts val="800"/>
              </a:spcAft>
              <a:defRPr sz="2000">
                <a:solidFill>
                  <a:srgbClr val="DCEBF5"/>
                </a:solidFill>
              </a:defRPr>
            </a:pPr>
            <a:r>
              <a:rPr dirty="0"/>
              <a:t>Result: </a:t>
            </a:r>
            <a:r>
              <a:rPr lang="en-US" sz="2000" dirty="0"/>
              <a:t>Clear role separation reduced confusion and allowed the team to resolve blockers quickly during sprints.</a:t>
            </a:r>
            <a:endParaRPr dirty="0"/>
          </a:p>
        </p:txBody>
      </p:sp>
      <p:sp>
        <p:nvSpPr>
          <p:cNvPr id="7" name="Isosceles Triangle 6"/>
          <p:cNvSpPr/>
          <p:nvPr/>
        </p:nvSpPr>
        <p:spPr>
          <a:xfrm>
            <a:off x="7498079" y="1444752"/>
            <a:ext cx="3840480" cy="3474720"/>
          </a:xfrm>
          <a:prstGeom prst="triangle">
            <a:avLst/>
          </a:prstGeom>
          <a:solidFill>
            <a:srgbClr val="263752"/>
          </a:solidFill>
          <a:ln w="2540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Product</a:t>
            </a:r>
            <a:br>
              <a:rPr dirty="0"/>
            </a:br>
            <a:r>
              <a:rPr dirty="0"/>
              <a:t>Owner</a:t>
            </a:r>
          </a:p>
          <a:p>
            <a:pPr algn="ctr">
              <a:defRPr sz="1800" b="1">
                <a:solidFill>
                  <a:srgbClr val="FFFFFF"/>
                </a:solidFill>
              </a:defRPr>
            </a:pPr>
            <a:r>
              <a:rPr dirty="0"/>
              <a:t>Scrum</a:t>
            </a:r>
            <a:br>
              <a:rPr dirty="0"/>
            </a:br>
            <a:r>
              <a:rPr dirty="0"/>
              <a:t>Master</a:t>
            </a:r>
          </a:p>
          <a:p>
            <a:pPr algn="ctr">
              <a:defRPr sz="1800" b="1">
                <a:solidFill>
                  <a:srgbClr val="FFFFFF"/>
                </a:solidFill>
              </a:defRPr>
            </a:pPr>
            <a:r>
              <a:rPr dirty="0"/>
              <a:t>Development</a:t>
            </a:r>
            <a:br>
              <a:rPr dirty="0"/>
            </a:br>
            <a:r>
              <a:rPr dirty="0"/>
              <a:t>Team</a:t>
            </a:r>
          </a:p>
        </p:txBody>
      </p:sp>
      <p:sp>
        <p:nvSpPr>
          <p:cNvPr id="8" name="TextBox 7">
            <a:extLst>
              <a:ext uri="{FF2B5EF4-FFF2-40B4-BE49-F238E27FC236}">
                <a16:creationId xmlns:a16="http://schemas.microsoft.com/office/drawing/2014/main" id="{1E5EAEDD-B3A9-81CA-D628-3CA5A6811F78}"/>
              </a:ext>
            </a:extLst>
          </p:cNvPr>
          <p:cNvSpPr txBox="1"/>
          <p:nvPr/>
        </p:nvSpPr>
        <p:spPr>
          <a:xfrm>
            <a:off x="8750710" y="5909187"/>
            <a:ext cx="1268361" cy="584775"/>
          </a:xfrm>
          <a:prstGeom prst="rect">
            <a:avLst/>
          </a:prstGeom>
          <a:noFill/>
        </p:spPr>
        <p:txBody>
          <a:bodyPr wrap="square" rtlCol="0">
            <a:spAutoFit/>
          </a:bodyPr>
          <a:lstStyle/>
          <a:p>
            <a:r>
              <a:rPr lang="en-US" sz="1400" dirty="0">
                <a:solidFill>
                  <a:schemeClr val="bg1"/>
                </a:solidFill>
              </a:rPr>
              <a:t>(PMI, 2021)</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305" y="-1327"/>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40080"/>
          </a:xfrm>
          <a:prstGeom prst="rect">
            <a:avLst/>
          </a:prstGeom>
          <a:noFill/>
        </p:spPr>
        <p:txBody>
          <a:bodyPr wrap="none">
            <a:spAutoFit/>
          </a:bodyPr>
          <a:lstStyle/>
          <a:p>
            <a:pPr algn="l"/>
            <a:r>
              <a:rPr sz="3600" b="1" dirty="0">
                <a:solidFill>
                  <a:srgbClr val="FFFFFF"/>
                </a:solidFill>
              </a:rPr>
              <a:t>Agile SDLC Lifecycle</a:t>
            </a:r>
          </a:p>
        </p:txBody>
      </p:sp>
      <p:sp>
        <p:nvSpPr>
          <p:cNvPr id="4" name="Rectangle 3"/>
          <p:cNvSpPr/>
          <p:nvPr/>
        </p:nvSpPr>
        <p:spPr>
          <a:xfrm>
            <a:off x="548640" y="1005840"/>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24844"/>
            <a:ext cx="7409590" cy="2144177"/>
          </a:xfrm>
          <a:prstGeom prst="rect">
            <a:avLst/>
          </a:prstGeom>
          <a:noFill/>
        </p:spPr>
        <p:txBody>
          <a:bodyPr wrap="square">
            <a:spAutoFit/>
          </a:bodyPr>
          <a:lstStyle/>
          <a:p>
            <a:pPr marL="342900" indent="-342900">
              <a:spcAft>
                <a:spcPts val="800"/>
              </a:spcAft>
              <a:buFont typeface="Arial" panose="020B0604020202020204" pitchFamily="34" charset="0"/>
              <a:buChar char="•"/>
              <a:defRPr sz="2000">
                <a:solidFill>
                  <a:srgbClr val="DCEBF5"/>
                </a:solidFill>
              </a:defRPr>
            </a:pPr>
            <a:r>
              <a:rPr dirty="0"/>
              <a:t>Agile work happens in short iterations (sprints). Each sprint produces a usable increment.</a:t>
            </a:r>
            <a:r>
              <a:rPr lang="en-US" sz="2000" dirty="0"/>
              <a:t> Each sprint produces a working feature ready for stakeholder review.</a:t>
            </a:r>
            <a:endParaRPr lang="en-US" dirty="0"/>
          </a:p>
          <a:p>
            <a:pPr marL="342900" indent="-342900" algn="l">
              <a:spcAft>
                <a:spcPts val="800"/>
              </a:spcAft>
              <a:buFont typeface="Arial" panose="020B0604020202020204" pitchFamily="34" charset="0"/>
              <a:buChar char="•"/>
              <a:defRPr sz="2000">
                <a:solidFill>
                  <a:srgbClr val="DCEBF5"/>
                </a:solidFill>
              </a:defRPr>
            </a:pPr>
            <a:r>
              <a:rPr dirty="0"/>
              <a:t>Teams plan, build, test, review, and improve continuously—reducing risk through early feedback.</a:t>
            </a:r>
            <a:endParaRPr lang="en-US" dirty="0"/>
          </a:p>
          <a:p>
            <a:pPr algn="l">
              <a:spcAft>
                <a:spcPts val="800"/>
              </a:spcAft>
              <a:defRPr sz="2000">
                <a:solidFill>
                  <a:srgbClr val="DCEBF5"/>
                </a:solidFill>
              </a:defRPr>
            </a:pPr>
            <a:endParaRPr lang="en-US" dirty="0"/>
          </a:p>
        </p:txBody>
      </p:sp>
      <p:sp>
        <p:nvSpPr>
          <p:cNvPr id="7" name="Oval 6"/>
          <p:cNvSpPr/>
          <p:nvPr/>
        </p:nvSpPr>
        <p:spPr>
          <a:xfrm>
            <a:off x="1127760" y="3822192"/>
            <a:ext cx="1143000" cy="1143000"/>
          </a:xfrm>
          <a:prstGeom prst="ellipse">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Plan</a:t>
            </a:r>
          </a:p>
        </p:txBody>
      </p:sp>
      <p:sp>
        <p:nvSpPr>
          <p:cNvPr id="8" name="Oval 7"/>
          <p:cNvSpPr/>
          <p:nvPr/>
        </p:nvSpPr>
        <p:spPr>
          <a:xfrm>
            <a:off x="3192780" y="3822192"/>
            <a:ext cx="1143000" cy="1143000"/>
          </a:xfrm>
          <a:prstGeom prst="ellipse">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Build</a:t>
            </a:r>
          </a:p>
        </p:txBody>
      </p:sp>
      <p:sp>
        <p:nvSpPr>
          <p:cNvPr id="9" name="Oval 8"/>
          <p:cNvSpPr/>
          <p:nvPr/>
        </p:nvSpPr>
        <p:spPr>
          <a:xfrm>
            <a:off x="5438661" y="3822192"/>
            <a:ext cx="1143000" cy="1143000"/>
          </a:xfrm>
          <a:prstGeom prst="ellipse">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Test</a:t>
            </a:r>
          </a:p>
        </p:txBody>
      </p:sp>
      <p:sp>
        <p:nvSpPr>
          <p:cNvPr id="10" name="Oval 9"/>
          <p:cNvSpPr/>
          <p:nvPr/>
        </p:nvSpPr>
        <p:spPr>
          <a:xfrm>
            <a:off x="7684542" y="3822192"/>
            <a:ext cx="1143000" cy="1143000"/>
          </a:xfrm>
          <a:prstGeom prst="ellipse">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Review</a:t>
            </a:r>
          </a:p>
        </p:txBody>
      </p:sp>
      <p:sp>
        <p:nvSpPr>
          <p:cNvPr id="11" name="Oval 10"/>
          <p:cNvSpPr/>
          <p:nvPr/>
        </p:nvSpPr>
        <p:spPr>
          <a:xfrm>
            <a:off x="9757720" y="3738079"/>
            <a:ext cx="1306520" cy="1227113"/>
          </a:xfrm>
          <a:prstGeom prst="ellipse">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Improve</a:t>
            </a:r>
          </a:p>
        </p:txBody>
      </p:sp>
      <p:sp>
        <p:nvSpPr>
          <p:cNvPr id="12" name="TextBox 11">
            <a:extLst>
              <a:ext uri="{FF2B5EF4-FFF2-40B4-BE49-F238E27FC236}">
                <a16:creationId xmlns:a16="http://schemas.microsoft.com/office/drawing/2014/main" id="{22726E60-2F58-D35B-F50F-99AA06FC8A59}"/>
              </a:ext>
            </a:extLst>
          </p:cNvPr>
          <p:cNvSpPr txBox="1"/>
          <p:nvPr/>
        </p:nvSpPr>
        <p:spPr>
          <a:xfrm>
            <a:off x="8827542" y="5909187"/>
            <a:ext cx="1143000" cy="584775"/>
          </a:xfrm>
          <a:prstGeom prst="rect">
            <a:avLst/>
          </a:prstGeom>
          <a:noFill/>
        </p:spPr>
        <p:txBody>
          <a:bodyPr wrap="square" rtlCol="0">
            <a:spAutoFit/>
          </a:bodyPr>
          <a:lstStyle/>
          <a:p>
            <a:r>
              <a:rPr lang="en-US" sz="1400" dirty="0">
                <a:solidFill>
                  <a:schemeClr val="bg1"/>
                </a:solidFill>
              </a:rPr>
              <a:t>(PMI, 2021)</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141137-98E9-81C8-5D50-8564749B1A6B}"/>
              </a:ext>
            </a:extLst>
          </p:cNvPr>
          <p:cNvSpPr/>
          <p:nvPr/>
        </p:nvSpPr>
        <p:spPr>
          <a:xfrm>
            <a:off x="305" y="0"/>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0A637AD8-3747-12CE-1532-869E17B99415}"/>
              </a:ext>
            </a:extLst>
          </p:cNvPr>
          <p:cNvSpPr/>
          <p:nvPr/>
        </p:nvSpPr>
        <p:spPr>
          <a:xfrm>
            <a:off x="450317" y="1172989"/>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BA12D28-C17A-B020-56FB-E962A7B8CA73}"/>
              </a:ext>
            </a:extLst>
          </p:cNvPr>
          <p:cNvSpPr txBox="1"/>
          <p:nvPr/>
        </p:nvSpPr>
        <p:spPr>
          <a:xfrm>
            <a:off x="579120" y="432661"/>
            <a:ext cx="4946609" cy="923330"/>
          </a:xfrm>
          <a:prstGeom prst="rect">
            <a:avLst/>
          </a:prstGeom>
          <a:noFill/>
        </p:spPr>
        <p:txBody>
          <a:bodyPr wrap="square" rtlCol="0">
            <a:spAutoFit/>
          </a:bodyPr>
          <a:lstStyle/>
          <a:p>
            <a:r>
              <a:rPr lang="en-US" sz="3600" b="1" dirty="0" err="1">
                <a:solidFill>
                  <a:srgbClr val="FFFFFF"/>
                </a:solidFill>
              </a:rPr>
              <a:t>WaterFall</a:t>
            </a:r>
            <a:r>
              <a:rPr lang="en-US" sz="3600" b="1" dirty="0">
                <a:solidFill>
                  <a:srgbClr val="FFFFFF"/>
                </a:solidFill>
              </a:rPr>
              <a:t> SDLC Lifecycle</a:t>
            </a:r>
            <a:endParaRPr lang="en-US" sz="3600" dirty="0"/>
          </a:p>
          <a:p>
            <a:endParaRPr lang="en-US" dirty="0"/>
          </a:p>
        </p:txBody>
      </p:sp>
      <p:sp>
        <p:nvSpPr>
          <p:cNvPr id="6" name="TextBox 5"/>
          <p:cNvSpPr txBox="1"/>
          <p:nvPr/>
        </p:nvSpPr>
        <p:spPr>
          <a:xfrm>
            <a:off x="914400" y="1828800"/>
            <a:ext cx="11159613" cy="4247317"/>
          </a:xfrm>
          <a:prstGeom prst="rect">
            <a:avLst/>
          </a:prstGeom>
          <a:noFill/>
        </p:spPr>
        <p:txBody>
          <a:bodyPr wrap="square">
            <a:spAutoFit/>
          </a:bodyPr>
          <a:lstStyle/>
          <a:p>
            <a:pPr>
              <a:defRPr sz="1800"/>
            </a:pPr>
            <a:endParaRPr lang="en-US" dirty="0">
              <a:solidFill>
                <a:schemeClr val="bg1"/>
              </a:solidFill>
            </a:endParaRPr>
          </a:p>
          <a:p>
            <a:pPr>
              <a:defRPr sz="1800"/>
            </a:pPr>
            <a:r>
              <a:rPr dirty="0">
                <a:solidFill>
                  <a:schemeClr val="bg1"/>
                </a:solidFill>
              </a:rPr>
              <a:t>Requirements → Design → Implementation → Testing → Deployment → Maintenance</a:t>
            </a:r>
            <a:endParaRPr lang="en-US" dirty="0">
              <a:solidFill>
                <a:schemeClr val="bg1"/>
              </a:solidFill>
            </a:endParaRPr>
          </a:p>
          <a:p>
            <a:pPr>
              <a:defRPr sz="1800"/>
            </a:pPr>
            <a:endParaRPr dirty="0">
              <a:solidFill>
                <a:schemeClr val="bg1"/>
              </a:solidFill>
            </a:endParaRPr>
          </a:p>
          <a:p>
            <a:pPr>
              <a:defRPr sz="1800"/>
            </a:pPr>
            <a:r>
              <a:rPr dirty="0">
                <a:solidFill>
                  <a:schemeClr val="bg1"/>
                </a:solidFill>
              </a:rPr>
              <a:t>• Each phase must be completed before the next begins</a:t>
            </a:r>
            <a:endParaRPr lang="en-US" dirty="0">
              <a:solidFill>
                <a:schemeClr val="bg1"/>
              </a:solidFill>
            </a:endParaRPr>
          </a:p>
          <a:p>
            <a:pPr>
              <a:defRPr sz="1800"/>
            </a:pPr>
            <a:endParaRPr dirty="0">
              <a:solidFill>
                <a:schemeClr val="bg1"/>
              </a:solidFill>
            </a:endParaRPr>
          </a:p>
          <a:p>
            <a:pPr>
              <a:defRPr sz="1800"/>
            </a:pPr>
            <a:r>
              <a:rPr dirty="0">
                <a:solidFill>
                  <a:schemeClr val="bg1"/>
                </a:solidFill>
              </a:rPr>
              <a:t>• Changes require revisiting earlier phases and updating documentation</a:t>
            </a:r>
          </a:p>
          <a:p>
            <a:pPr>
              <a:defRPr sz="1800"/>
            </a:pPr>
            <a:endParaRPr lang="en-US" dirty="0">
              <a:solidFill>
                <a:schemeClr val="bg1"/>
              </a:solidFill>
            </a:endParaRPr>
          </a:p>
          <a:p>
            <a:pPr>
              <a:defRPr sz="1800"/>
            </a:pPr>
            <a:r>
              <a:rPr dirty="0">
                <a:solidFill>
                  <a:schemeClr val="bg1"/>
                </a:solidFill>
              </a:rPr>
              <a:t>• Testing occurs after development is finished</a:t>
            </a:r>
            <a:endParaRPr lang="en-US" dirty="0">
              <a:solidFill>
                <a:schemeClr val="bg1"/>
              </a:solidFill>
            </a:endParaRPr>
          </a:p>
          <a:p>
            <a:pPr>
              <a:defRPr sz="1800"/>
            </a:pPr>
            <a:endParaRPr dirty="0">
              <a:solidFill>
                <a:schemeClr val="bg1"/>
              </a:solidFill>
            </a:endParaRPr>
          </a:p>
          <a:p>
            <a:pPr>
              <a:defRPr sz="1800"/>
            </a:pPr>
            <a:r>
              <a:rPr dirty="0">
                <a:solidFill>
                  <a:schemeClr val="bg1"/>
                </a:solidFill>
              </a:rPr>
              <a:t>• Working software is delivered near the end of the project</a:t>
            </a:r>
            <a:endParaRPr lang="en-US" dirty="0">
              <a:solidFill>
                <a:schemeClr val="bg1"/>
              </a:solidFill>
            </a:endParaRPr>
          </a:p>
          <a:p>
            <a:pPr>
              <a:defRPr sz="1800"/>
            </a:pPr>
            <a:endParaRPr lang="en-US" dirty="0">
              <a:solidFill>
                <a:schemeClr val="bg1"/>
              </a:solidFill>
            </a:endParaRPr>
          </a:p>
          <a:p>
            <a:pPr>
              <a:defRPr sz="1800"/>
            </a:pPr>
            <a:r>
              <a:rPr lang="en-US" dirty="0">
                <a:solidFill>
                  <a:schemeClr val="bg1"/>
                </a:solidFill>
              </a:rPr>
              <a:t>• Risk increases because validation occurs late in the project lifecycle.</a:t>
            </a:r>
            <a:endParaRPr dirty="0">
              <a:solidFill>
                <a:schemeClr val="bg1"/>
              </a:solidFill>
            </a:endParaRPr>
          </a:p>
          <a:p>
            <a:pPr>
              <a:defRPr sz="1800"/>
            </a:pPr>
            <a:endParaRPr lang="en-US" dirty="0">
              <a:solidFill>
                <a:schemeClr val="bg1"/>
              </a:solidFill>
            </a:endParaRPr>
          </a:p>
          <a:p>
            <a:pPr>
              <a:defRPr sz="1800"/>
            </a:pPr>
            <a:r>
              <a:rPr dirty="0">
                <a:solidFill>
                  <a:schemeClr val="bg1"/>
                </a:solidFill>
              </a:rPr>
              <a:t>Impact: Planning accuracy is critical because late changes significantly delay release.</a:t>
            </a:r>
          </a:p>
          <a:p>
            <a:pPr>
              <a:defRPr sz="1800"/>
            </a:pPr>
            <a:r>
              <a:rPr lang="en-US" dirty="0">
                <a:solidFill>
                  <a:schemeClr val="bg1"/>
                </a:solidFill>
              </a:rPr>
              <a:t>For evolving applications like SNHU Travel, late validation increases delivery risk.</a:t>
            </a:r>
            <a:endParaRPr dirty="0">
              <a:solidFill>
                <a:schemeClr val="bg1"/>
              </a:solidFill>
            </a:endParaRPr>
          </a:p>
        </p:txBody>
      </p:sp>
      <p:sp>
        <p:nvSpPr>
          <p:cNvPr id="4" name="TextBox 3">
            <a:extLst>
              <a:ext uri="{FF2B5EF4-FFF2-40B4-BE49-F238E27FC236}">
                <a16:creationId xmlns:a16="http://schemas.microsoft.com/office/drawing/2014/main" id="{D4071E3D-EE04-DCC1-7C63-14DEFFE81707}"/>
              </a:ext>
            </a:extLst>
          </p:cNvPr>
          <p:cNvSpPr txBox="1"/>
          <p:nvPr/>
        </p:nvSpPr>
        <p:spPr>
          <a:xfrm>
            <a:off x="6567947" y="6115665"/>
            <a:ext cx="3057833" cy="584775"/>
          </a:xfrm>
          <a:prstGeom prst="rect">
            <a:avLst/>
          </a:prstGeom>
          <a:noFill/>
        </p:spPr>
        <p:txBody>
          <a:bodyPr wrap="square" rtlCol="0">
            <a:spAutoFit/>
          </a:bodyPr>
          <a:lstStyle/>
          <a:p>
            <a:r>
              <a:rPr lang="en-US" sz="1400" dirty="0">
                <a:solidFill>
                  <a:schemeClr val="bg1"/>
                </a:solidFill>
              </a:rPr>
              <a:t>(McKinsey &amp; Company, 2022)</a:t>
            </a:r>
          </a:p>
          <a:p>
            <a:endParaRPr lang="en-US" dirty="0"/>
          </a:p>
        </p:txBody>
      </p:sp>
    </p:spTree>
    <p:extLst>
      <p:ext uri="{BB962C8B-B14F-4D97-AF65-F5344CB8AC3E}">
        <p14:creationId xmlns:p14="http://schemas.microsoft.com/office/powerpoint/2010/main" val="349859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40080"/>
          </a:xfrm>
          <a:prstGeom prst="rect">
            <a:avLst/>
          </a:prstGeom>
          <a:noFill/>
        </p:spPr>
        <p:txBody>
          <a:bodyPr wrap="none">
            <a:spAutoFit/>
          </a:bodyPr>
          <a:lstStyle/>
          <a:p>
            <a:pPr algn="l"/>
            <a:r>
              <a:rPr sz="3600" b="1" dirty="0">
                <a:solidFill>
                  <a:srgbClr val="FFFFFF"/>
                </a:solidFill>
              </a:rPr>
              <a:t>Waterfall vs Agile</a:t>
            </a:r>
          </a:p>
        </p:txBody>
      </p:sp>
      <p:sp>
        <p:nvSpPr>
          <p:cNvPr id="4" name="Rectangle 3"/>
          <p:cNvSpPr/>
          <p:nvPr/>
        </p:nvSpPr>
        <p:spPr>
          <a:xfrm>
            <a:off x="548640" y="1005840"/>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60" y="1645920"/>
            <a:ext cx="5394960" cy="2827757"/>
          </a:xfrm>
          <a:prstGeom prst="roundRect">
            <a:avLst/>
          </a:prstGeom>
          <a:solidFill>
            <a:srgbClr val="263752"/>
          </a:solidFill>
          <a:ln w="19050">
            <a:solidFill>
              <a:srgbClr val="50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dirty="0"/>
              <a:t>Waterfall</a:t>
            </a:r>
          </a:p>
          <a:p>
            <a:pPr algn="ctr">
              <a:defRPr sz="2000">
                <a:solidFill>
                  <a:srgbClr val="DCEBF5"/>
                </a:solidFill>
              </a:defRPr>
            </a:pPr>
            <a:r>
              <a:rPr dirty="0"/>
              <a:t>Fixed phases</a:t>
            </a:r>
          </a:p>
          <a:p>
            <a:pPr algn="ctr">
              <a:defRPr sz="2000">
                <a:solidFill>
                  <a:srgbClr val="DCEBF5"/>
                </a:solidFill>
              </a:defRPr>
            </a:pPr>
            <a:r>
              <a:rPr dirty="0"/>
              <a:t>Late change causes rework</a:t>
            </a:r>
          </a:p>
          <a:p>
            <a:pPr algn="ctr">
              <a:defRPr sz="2000">
                <a:solidFill>
                  <a:srgbClr val="DCEBF5"/>
                </a:solidFill>
              </a:defRPr>
            </a:pPr>
            <a:r>
              <a:rPr dirty="0"/>
              <a:t>Delivery often delayed</a:t>
            </a:r>
          </a:p>
        </p:txBody>
      </p:sp>
      <p:sp>
        <p:nvSpPr>
          <p:cNvPr id="7" name="Rounded Rectangle 6"/>
          <p:cNvSpPr/>
          <p:nvPr/>
        </p:nvSpPr>
        <p:spPr>
          <a:xfrm>
            <a:off x="5989320" y="1645920"/>
            <a:ext cx="5394960" cy="2827757"/>
          </a:xfrm>
          <a:prstGeom prst="roundRect">
            <a:avLst/>
          </a:prstGeom>
          <a:solidFill>
            <a:srgbClr val="263752"/>
          </a:solidFill>
          <a:ln w="2540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dirty="0"/>
              <a:t>Agile</a:t>
            </a:r>
          </a:p>
          <a:p>
            <a:pPr algn="ctr">
              <a:defRPr sz="2000">
                <a:solidFill>
                  <a:srgbClr val="DCEBF5"/>
                </a:solidFill>
              </a:defRPr>
            </a:pPr>
            <a:r>
              <a:rPr dirty="0"/>
              <a:t>Iterative delivery</a:t>
            </a:r>
          </a:p>
          <a:p>
            <a:pPr algn="ctr">
              <a:defRPr sz="2000">
                <a:solidFill>
                  <a:srgbClr val="DCEBF5"/>
                </a:solidFill>
              </a:defRPr>
            </a:pPr>
            <a:r>
              <a:rPr dirty="0"/>
              <a:t>Reprioritize next sprint</a:t>
            </a:r>
          </a:p>
          <a:p>
            <a:pPr algn="ctr">
              <a:defRPr sz="2000">
                <a:solidFill>
                  <a:srgbClr val="DCEBF5"/>
                </a:solidFill>
              </a:defRPr>
            </a:pPr>
            <a:r>
              <a:rPr dirty="0"/>
              <a:t>Continuous value delivery</a:t>
            </a:r>
          </a:p>
        </p:txBody>
      </p:sp>
      <p:sp>
        <p:nvSpPr>
          <p:cNvPr id="8" name="TextBox 7"/>
          <p:cNvSpPr txBox="1"/>
          <p:nvPr/>
        </p:nvSpPr>
        <p:spPr>
          <a:xfrm>
            <a:off x="731520" y="4658969"/>
            <a:ext cx="10881360" cy="1477328"/>
          </a:xfrm>
          <a:prstGeom prst="rect">
            <a:avLst/>
          </a:prstGeom>
          <a:noFill/>
        </p:spPr>
        <p:txBody>
          <a:bodyPr wrap="square">
            <a:spAutoFit/>
          </a:bodyPr>
          <a:lstStyle/>
          <a:p>
            <a:pPr>
              <a:defRPr sz="1800"/>
            </a:pPr>
            <a:r>
              <a:rPr dirty="0">
                <a:solidFill>
                  <a:schemeClr val="bg1"/>
                </a:solidFill>
              </a:rPr>
              <a:t>During the SNHU Travel project, feature requirements changed after development began. Using Agile, the team updated the backlog and implemented the change in the next sprint without affecting completed features. In a waterfall approach, the team would have returned to the requirements and design phases before continuing development, delaying testing and deployment. This shows how Agile supports incremental adaptation while waterfall requires sequential rework.</a:t>
            </a:r>
            <a:r>
              <a:rPr lang="en-US" dirty="0">
                <a:solidFill>
                  <a:schemeClr val="bg1"/>
                </a:solidFill>
              </a:rPr>
              <a:t> This demonstrates iterative adaptation versus predictive planning</a:t>
            </a:r>
            <a:r>
              <a:rPr lang="en-US" dirty="0"/>
              <a:t>.</a:t>
            </a:r>
            <a:endParaRPr dirty="0">
              <a:solidFill>
                <a:schemeClr val="bg1"/>
              </a:solidFill>
            </a:endParaRPr>
          </a:p>
        </p:txBody>
      </p:sp>
      <p:sp>
        <p:nvSpPr>
          <p:cNvPr id="9" name="TextBox 8">
            <a:extLst>
              <a:ext uri="{FF2B5EF4-FFF2-40B4-BE49-F238E27FC236}">
                <a16:creationId xmlns:a16="http://schemas.microsoft.com/office/drawing/2014/main" id="{D25FFCA8-2DE0-F7B2-D8A2-E6D97AE3D17D}"/>
              </a:ext>
            </a:extLst>
          </p:cNvPr>
          <p:cNvSpPr txBox="1"/>
          <p:nvPr/>
        </p:nvSpPr>
        <p:spPr>
          <a:xfrm>
            <a:off x="7796981" y="6136297"/>
            <a:ext cx="2467896" cy="584775"/>
          </a:xfrm>
          <a:prstGeom prst="rect">
            <a:avLst/>
          </a:prstGeom>
          <a:noFill/>
        </p:spPr>
        <p:txBody>
          <a:bodyPr wrap="square" rtlCol="0">
            <a:spAutoFit/>
          </a:bodyPr>
          <a:lstStyle/>
          <a:p>
            <a:r>
              <a:rPr lang="en-US" sz="1400" dirty="0">
                <a:solidFill>
                  <a:schemeClr val="bg1"/>
                </a:solidFill>
              </a:rPr>
              <a:t>(McKinsey &amp; Company, 2022)</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40080"/>
          </a:xfrm>
          <a:prstGeom prst="rect">
            <a:avLst/>
          </a:prstGeom>
          <a:noFill/>
        </p:spPr>
        <p:txBody>
          <a:bodyPr wrap="none">
            <a:spAutoFit/>
          </a:bodyPr>
          <a:lstStyle/>
          <a:p>
            <a:pPr algn="l"/>
            <a:r>
              <a:rPr sz="3600" b="1">
                <a:solidFill>
                  <a:srgbClr val="FFFFFF"/>
                </a:solidFill>
              </a:rPr>
              <a:t>Choosing Waterfall or Agile</a:t>
            </a:r>
          </a:p>
        </p:txBody>
      </p:sp>
      <p:sp>
        <p:nvSpPr>
          <p:cNvPr id="4" name="Rectangle 3"/>
          <p:cNvSpPr/>
          <p:nvPr/>
        </p:nvSpPr>
        <p:spPr>
          <a:xfrm>
            <a:off x="548640" y="1005840"/>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5669280" cy="3990836"/>
          </a:xfrm>
          <a:prstGeom prst="rect">
            <a:avLst/>
          </a:prstGeom>
          <a:noFill/>
        </p:spPr>
        <p:txBody>
          <a:bodyPr wrap="square">
            <a:spAutoFit/>
          </a:bodyPr>
          <a:lstStyle/>
          <a:p>
            <a:pPr marL="342900" indent="-342900">
              <a:spcAft>
                <a:spcPts val="800"/>
              </a:spcAft>
              <a:buFont typeface="Arial" panose="020B0604020202020204" pitchFamily="34" charset="0"/>
              <a:buChar char="•"/>
              <a:defRPr sz="2000">
                <a:solidFill>
                  <a:srgbClr val="DCEBF5"/>
                </a:solidFill>
              </a:defRPr>
            </a:pPr>
            <a:r>
              <a:rPr lang="en-US" sz="2000" dirty="0"/>
              <a:t>Method selection should be based on uncertainty level.</a:t>
            </a:r>
          </a:p>
          <a:p>
            <a:pPr>
              <a:spcAft>
                <a:spcPts val="800"/>
              </a:spcAft>
              <a:defRPr sz="2000">
                <a:solidFill>
                  <a:srgbClr val="DCEBF5"/>
                </a:solidFill>
              </a:defRPr>
            </a:pPr>
            <a:endParaRPr lang="en-US" dirty="0"/>
          </a:p>
          <a:p>
            <a:pPr marL="342900" indent="-342900" algn="l">
              <a:spcAft>
                <a:spcPts val="800"/>
              </a:spcAft>
              <a:buFont typeface="Arial" panose="020B0604020202020204" pitchFamily="34" charset="0"/>
              <a:buChar char="•"/>
              <a:defRPr sz="2000">
                <a:solidFill>
                  <a:srgbClr val="DCEBF5"/>
                </a:solidFill>
              </a:defRPr>
            </a:pPr>
            <a:r>
              <a:rPr dirty="0"/>
              <a:t>Use Waterfall when requirements are stable; use Agile when learning and iteration are required.</a:t>
            </a:r>
            <a:endParaRPr lang="en-US" dirty="0"/>
          </a:p>
          <a:p>
            <a:pPr algn="l">
              <a:spcAft>
                <a:spcPts val="800"/>
              </a:spcAft>
              <a:defRPr sz="2000">
                <a:solidFill>
                  <a:srgbClr val="DCEBF5"/>
                </a:solidFill>
              </a:defRPr>
            </a:pPr>
            <a:endParaRPr lang="en-US" dirty="0"/>
          </a:p>
          <a:p>
            <a:pPr marL="342900" indent="-342900">
              <a:spcAft>
                <a:spcPts val="800"/>
              </a:spcAft>
              <a:buFont typeface="Arial" panose="020B0604020202020204" pitchFamily="34" charset="0"/>
              <a:buChar char="•"/>
              <a:defRPr sz="2000">
                <a:solidFill>
                  <a:srgbClr val="DCEBF5"/>
                </a:solidFill>
              </a:defRPr>
            </a:pPr>
            <a:r>
              <a:rPr lang="en-US" sz="2000" dirty="0"/>
              <a:t>Because project requirements evolved each week, predictive planning would have created delays while iterative planning allowed continuous progress.</a:t>
            </a:r>
          </a:p>
          <a:p>
            <a:pPr algn="l">
              <a:spcAft>
                <a:spcPts val="800"/>
              </a:spcAft>
              <a:defRPr sz="2000">
                <a:solidFill>
                  <a:srgbClr val="DCEBF5"/>
                </a:solidFill>
              </a:defRPr>
            </a:pPr>
            <a:endParaRPr dirty="0"/>
          </a:p>
        </p:txBody>
      </p:sp>
      <p:sp>
        <p:nvSpPr>
          <p:cNvPr id="7" name="Rounded Rectangle 6"/>
          <p:cNvSpPr/>
          <p:nvPr/>
        </p:nvSpPr>
        <p:spPr>
          <a:xfrm>
            <a:off x="7315200" y="1920240"/>
            <a:ext cx="4206240" cy="155448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Waterfall</a:t>
            </a:r>
            <a:br/>
            <a:r>
              <a:t>Stable requirements</a:t>
            </a:r>
            <a:br/>
            <a:r>
              <a:t>Compliance</a:t>
            </a:r>
          </a:p>
        </p:txBody>
      </p:sp>
      <p:sp>
        <p:nvSpPr>
          <p:cNvPr id="8" name="Rounded Rectangle 7"/>
          <p:cNvSpPr/>
          <p:nvPr/>
        </p:nvSpPr>
        <p:spPr>
          <a:xfrm>
            <a:off x="7315200" y="3749039"/>
            <a:ext cx="4206240" cy="155448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Agile</a:t>
            </a:r>
            <a:br/>
            <a:r>
              <a:t>Changing requirements</a:t>
            </a:r>
            <a:br/>
            <a:r>
              <a:t>Customer apps</a:t>
            </a:r>
          </a:p>
        </p:txBody>
      </p:sp>
      <p:sp>
        <p:nvSpPr>
          <p:cNvPr id="9" name="TextBox 8">
            <a:extLst>
              <a:ext uri="{FF2B5EF4-FFF2-40B4-BE49-F238E27FC236}">
                <a16:creationId xmlns:a16="http://schemas.microsoft.com/office/drawing/2014/main" id="{EECEF376-A072-BFF9-D3ED-32D08B20159C}"/>
              </a:ext>
            </a:extLst>
          </p:cNvPr>
          <p:cNvSpPr txBox="1"/>
          <p:nvPr/>
        </p:nvSpPr>
        <p:spPr>
          <a:xfrm>
            <a:off x="3195484" y="6007510"/>
            <a:ext cx="1582993" cy="584775"/>
          </a:xfrm>
          <a:prstGeom prst="rect">
            <a:avLst/>
          </a:prstGeom>
          <a:noFill/>
        </p:spPr>
        <p:txBody>
          <a:bodyPr wrap="square" rtlCol="0">
            <a:spAutoFit/>
          </a:bodyPr>
          <a:lstStyle/>
          <a:p>
            <a:r>
              <a:rPr lang="en-US" sz="1400" dirty="0">
                <a:solidFill>
                  <a:schemeClr val="bg1"/>
                </a:solidFill>
              </a:rPr>
              <a:t>(Digital.ai, 2023)</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9400"/>
            <a:ext cx="12191695" cy="228600"/>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858000"/>
          </a:xfrm>
          <a:prstGeom prst="rect">
            <a:avLst/>
          </a:prstGeom>
          <a:solidFill>
            <a:srgbClr val="1C2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40080"/>
          </a:xfrm>
          <a:prstGeom prst="rect">
            <a:avLst/>
          </a:prstGeom>
          <a:noFill/>
        </p:spPr>
        <p:txBody>
          <a:bodyPr wrap="none">
            <a:spAutoFit/>
          </a:bodyPr>
          <a:lstStyle/>
          <a:p>
            <a:pPr algn="l"/>
            <a:r>
              <a:rPr sz="3600" b="1">
                <a:solidFill>
                  <a:srgbClr val="FFFFFF"/>
                </a:solidFill>
              </a:rPr>
              <a:t>Why ChadaTech Should Adopt Agile</a:t>
            </a:r>
          </a:p>
        </p:txBody>
      </p:sp>
      <p:sp>
        <p:nvSpPr>
          <p:cNvPr id="4" name="Rectangle 3"/>
          <p:cNvSpPr/>
          <p:nvPr/>
        </p:nvSpPr>
        <p:spPr>
          <a:xfrm>
            <a:off x="548640" y="1005840"/>
            <a:ext cx="11064240"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1325880"/>
            <a:ext cx="9602183" cy="2657138"/>
          </a:xfrm>
          <a:prstGeom prst="rect">
            <a:avLst/>
          </a:prstGeom>
          <a:noFill/>
        </p:spPr>
        <p:txBody>
          <a:bodyPr wrap="square">
            <a:spAutoFit/>
          </a:bodyPr>
          <a:lstStyle/>
          <a:p>
            <a:pPr marL="342900" indent="-342900" algn="l">
              <a:spcAft>
                <a:spcPts val="800"/>
              </a:spcAft>
              <a:buFont typeface="Arial" panose="020B0604020202020204" pitchFamily="34" charset="0"/>
              <a:buChar char="•"/>
              <a:defRPr sz="2000">
                <a:solidFill>
                  <a:srgbClr val="DCEBF5"/>
                </a:solidFill>
              </a:defRPr>
            </a:pPr>
            <a:r>
              <a:rPr dirty="0"/>
              <a:t>The SNHU Travel pilot showed measurable workflow benefits when work was delivered in short sprints.</a:t>
            </a:r>
            <a:endParaRPr lang="en-US" dirty="0"/>
          </a:p>
          <a:p>
            <a:pPr algn="l">
              <a:spcAft>
                <a:spcPts val="800"/>
              </a:spcAft>
              <a:defRPr sz="2000">
                <a:solidFill>
                  <a:srgbClr val="DCEBF5"/>
                </a:solidFill>
              </a:defRPr>
            </a:pPr>
            <a:endParaRPr lang="en-US" dirty="0"/>
          </a:p>
          <a:p>
            <a:pPr marL="342900" indent="-342900">
              <a:spcAft>
                <a:spcPts val="800"/>
              </a:spcAft>
              <a:buFont typeface="Arial" panose="020B0604020202020204" pitchFamily="34" charset="0"/>
              <a:buChar char="•"/>
              <a:defRPr sz="2000">
                <a:solidFill>
                  <a:srgbClr val="DCEBF5"/>
                </a:solidFill>
              </a:defRPr>
            </a:pPr>
            <a:r>
              <a:rPr lang="en-US" sz="2000" dirty="0"/>
              <a:t>The team consistently delivered functional features at the end of each sprint, demonstrating reliable incremental delivery.</a:t>
            </a:r>
            <a:endParaRPr lang="en-US" dirty="0"/>
          </a:p>
          <a:p>
            <a:pPr algn="l">
              <a:spcAft>
                <a:spcPts val="800"/>
              </a:spcAft>
              <a:defRPr sz="2000">
                <a:solidFill>
                  <a:srgbClr val="DCEBF5"/>
                </a:solidFill>
              </a:defRPr>
            </a:pPr>
            <a:endParaRPr lang="en-US" dirty="0"/>
          </a:p>
          <a:p>
            <a:pPr marL="342900" indent="-342900">
              <a:spcAft>
                <a:spcPts val="800"/>
              </a:spcAft>
              <a:buFont typeface="Arial" panose="020B0604020202020204" pitchFamily="34" charset="0"/>
              <a:buChar char="•"/>
              <a:defRPr sz="2000">
                <a:solidFill>
                  <a:srgbClr val="DCEBF5"/>
                </a:solidFill>
              </a:defRPr>
            </a:pPr>
            <a:r>
              <a:rPr dirty="0"/>
              <a:t>Recommendation: </a:t>
            </a:r>
            <a:r>
              <a:rPr lang="en-US" sz="2000" dirty="0"/>
              <a:t>Adopt Scrum-Agile as the standard development methodology.</a:t>
            </a:r>
            <a:endParaRPr dirty="0"/>
          </a:p>
        </p:txBody>
      </p:sp>
      <p:sp>
        <p:nvSpPr>
          <p:cNvPr id="7" name="Rounded Rectangle 6"/>
          <p:cNvSpPr/>
          <p:nvPr/>
        </p:nvSpPr>
        <p:spPr>
          <a:xfrm>
            <a:off x="855406" y="4892040"/>
            <a:ext cx="2011680" cy="128016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rPr dirty="0"/>
              <a:t>Faster</a:t>
            </a:r>
            <a:br>
              <a:rPr dirty="0"/>
            </a:br>
            <a:r>
              <a:rPr dirty="0"/>
              <a:t>Feedback</a:t>
            </a:r>
          </a:p>
        </p:txBody>
      </p:sp>
      <p:sp>
        <p:nvSpPr>
          <p:cNvPr id="8" name="Rounded Rectangle 7"/>
          <p:cNvSpPr/>
          <p:nvPr/>
        </p:nvSpPr>
        <p:spPr>
          <a:xfrm>
            <a:off x="3722338" y="4892040"/>
            <a:ext cx="2011680" cy="128016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rPr dirty="0"/>
              <a:t>Reduced</a:t>
            </a:r>
            <a:br>
              <a:rPr dirty="0"/>
            </a:br>
            <a:r>
              <a:rPr dirty="0"/>
              <a:t>Rework</a:t>
            </a:r>
          </a:p>
        </p:txBody>
      </p:sp>
      <p:sp>
        <p:nvSpPr>
          <p:cNvPr id="9" name="Rounded Rectangle 8"/>
          <p:cNvSpPr/>
          <p:nvPr/>
        </p:nvSpPr>
        <p:spPr>
          <a:xfrm>
            <a:off x="6457753" y="4882699"/>
            <a:ext cx="2011680" cy="128016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rPr dirty="0"/>
              <a:t>Better</a:t>
            </a:r>
            <a:br>
              <a:rPr dirty="0"/>
            </a:br>
            <a:r>
              <a:rPr dirty="0"/>
              <a:t>Collaboration</a:t>
            </a:r>
          </a:p>
        </p:txBody>
      </p:sp>
      <p:sp>
        <p:nvSpPr>
          <p:cNvPr id="10" name="Rounded Rectangle 9"/>
          <p:cNvSpPr/>
          <p:nvPr/>
        </p:nvSpPr>
        <p:spPr>
          <a:xfrm>
            <a:off x="9193168" y="4882699"/>
            <a:ext cx="2011680" cy="1280160"/>
          </a:xfrm>
          <a:prstGeom prst="roundRect">
            <a:avLst/>
          </a:prstGeom>
          <a:solidFill>
            <a:srgbClr val="263752"/>
          </a:solidFill>
          <a:ln w="19050">
            <a:solidFill>
              <a:srgbClr val="00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Consistent</a:t>
            </a:r>
            <a:br/>
            <a:r>
              <a:t>Delivery</a:t>
            </a:r>
          </a:p>
        </p:txBody>
      </p:sp>
      <p:sp>
        <p:nvSpPr>
          <p:cNvPr id="11" name="TextBox 10">
            <a:extLst>
              <a:ext uri="{FF2B5EF4-FFF2-40B4-BE49-F238E27FC236}">
                <a16:creationId xmlns:a16="http://schemas.microsoft.com/office/drawing/2014/main" id="{0A5BF699-377A-B2F5-827D-7F0E2B5D2F04}"/>
              </a:ext>
            </a:extLst>
          </p:cNvPr>
          <p:cNvSpPr txBox="1"/>
          <p:nvPr/>
        </p:nvSpPr>
        <p:spPr>
          <a:xfrm>
            <a:off x="5476568" y="6430297"/>
            <a:ext cx="1641987" cy="584775"/>
          </a:xfrm>
          <a:prstGeom prst="rect">
            <a:avLst/>
          </a:prstGeom>
          <a:noFill/>
        </p:spPr>
        <p:txBody>
          <a:bodyPr wrap="square" rtlCol="0">
            <a:spAutoFit/>
          </a:bodyPr>
          <a:lstStyle/>
          <a:p>
            <a:r>
              <a:rPr lang="en-US" sz="1400" dirty="0">
                <a:solidFill>
                  <a:schemeClr val="bg1"/>
                </a:solidFill>
              </a:rPr>
              <a:t>(Denning, 2021)</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800"/>
            </a:pPr>
            <a:endParaRPr dirty="0"/>
          </a:p>
        </p:txBody>
      </p:sp>
      <p:sp>
        <p:nvSpPr>
          <p:cNvPr id="3" name="TextBox 2"/>
          <p:cNvSpPr txBox="1"/>
          <p:nvPr/>
        </p:nvSpPr>
        <p:spPr>
          <a:xfrm>
            <a:off x="548640" y="320040"/>
            <a:ext cx="1785425" cy="523220"/>
          </a:xfrm>
          <a:prstGeom prst="rect">
            <a:avLst/>
          </a:prstGeom>
          <a:noFill/>
        </p:spPr>
        <p:txBody>
          <a:bodyPr wrap="none">
            <a:spAutoFit/>
          </a:bodyPr>
          <a:lstStyle/>
          <a:p>
            <a:pPr algn="l">
              <a:defRPr sz="1800"/>
            </a:pPr>
            <a:r>
              <a:rPr lang="en-US" sz="2800" dirty="0">
                <a:solidFill>
                  <a:schemeClr val="bg1"/>
                </a:solidFill>
              </a:rPr>
              <a:t>References</a:t>
            </a:r>
            <a:endParaRPr sz="2800" dirty="0">
              <a:solidFill>
                <a:schemeClr val="bg1"/>
              </a:solidFill>
            </a:endParaRPr>
          </a:p>
        </p:txBody>
      </p:sp>
      <p:sp>
        <p:nvSpPr>
          <p:cNvPr id="6" name="TextBox 5">
            <a:extLst>
              <a:ext uri="{FF2B5EF4-FFF2-40B4-BE49-F238E27FC236}">
                <a16:creationId xmlns:a16="http://schemas.microsoft.com/office/drawing/2014/main" id="{9988F599-5178-3161-E192-296A6E12D69A}"/>
              </a:ext>
            </a:extLst>
          </p:cNvPr>
          <p:cNvSpPr txBox="1"/>
          <p:nvPr/>
        </p:nvSpPr>
        <p:spPr>
          <a:xfrm>
            <a:off x="668594" y="1150374"/>
            <a:ext cx="10048567" cy="3416320"/>
          </a:xfrm>
          <a:prstGeom prst="rect">
            <a:avLst/>
          </a:prstGeom>
          <a:noFill/>
        </p:spPr>
        <p:txBody>
          <a:bodyPr wrap="square" rtlCol="0">
            <a:spAutoFit/>
          </a:bodyPr>
          <a:lstStyle/>
          <a:p>
            <a:pPr marL="285750" indent="-285750">
              <a:buFont typeface="Arial" panose="020B0604020202020204" pitchFamily="34" charset="0"/>
              <a:buChar char="•"/>
              <a:defRPr sz="1800"/>
            </a:pPr>
            <a:r>
              <a:rPr lang="en-US" dirty="0">
                <a:solidFill>
                  <a:schemeClr val="bg1"/>
                </a:solidFill>
              </a:rPr>
              <a:t>Denning, S. (2021). The age of agile: </a:t>
            </a:r>
            <a:r>
              <a:rPr lang="en-US" i="1" dirty="0">
                <a:solidFill>
                  <a:schemeClr val="bg1"/>
                </a:solidFill>
              </a:rPr>
              <a:t>How smart companies are transforming the way work gets done.</a:t>
            </a:r>
            <a:r>
              <a:rPr lang="en-US" dirty="0">
                <a:solidFill>
                  <a:schemeClr val="bg1"/>
                </a:solidFill>
              </a:rPr>
              <a:t> AMACOM. https://www.amacombooks.org</a:t>
            </a:r>
          </a:p>
          <a:p>
            <a:pPr marL="285750" indent="-285750">
              <a:buFont typeface="Arial" panose="020B0604020202020204" pitchFamily="34" charset="0"/>
              <a:buChar char="•"/>
              <a:defRPr sz="1800"/>
            </a:pPr>
            <a:endParaRPr lang="en-US" dirty="0">
              <a:solidFill>
                <a:schemeClr val="bg1"/>
              </a:solidFill>
            </a:endParaRPr>
          </a:p>
          <a:p>
            <a:pPr marL="285750" indent="-285750">
              <a:buFont typeface="Arial" panose="020B0604020202020204" pitchFamily="34" charset="0"/>
              <a:buChar char="•"/>
              <a:defRPr sz="1800"/>
            </a:pPr>
            <a:r>
              <a:rPr lang="en-US" dirty="0">
                <a:solidFill>
                  <a:schemeClr val="bg1"/>
                </a:solidFill>
              </a:rPr>
              <a:t>Project Management Institute. (2021). Agile Practice Guide. Project Management Institute. https://www.pmi.org</a:t>
            </a:r>
          </a:p>
          <a:p>
            <a:pPr marL="285750" indent="-285750">
              <a:buFont typeface="Arial" panose="020B0604020202020204" pitchFamily="34" charset="0"/>
              <a:buChar char="•"/>
              <a:defRPr sz="1800"/>
            </a:pPr>
            <a:endParaRPr lang="en-US" dirty="0">
              <a:solidFill>
                <a:schemeClr val="bg1"/>
              </a:solidFill>
            </a:endParaRPr>
          </a:p>
          <a:p>
            <a:pPr marL="285750" indent="-285750">
              <a:buFont typeface="Arial" panose="020B0604020202020204" pitchFamily="34" charset="0"/>
              <a:buChar char="•"/>
              <a:defRPr sz="1800"/>
            </a:pPr>
            <a:r>
              <a:rPr lang="en-US" dirty="0">
                <a:solidFill>
                  <a:schemeClr val="bg1"/>
                </a:solidFill>
              </a:rPr>
              <a:t>Digital.ai. (2023). 17th State of Agile Report. https://digital.ai/resource-center/analyst-reports/state-of-agile-report</a:t>
            </a:r>
          </a:p>
          <a:p>
            <a:pPr marL="285750" indent="-285750">
              <a:buFont typeface="Arial" panose="020B0604020202020204" pitchFamily="34" charset="0"/>
              <a:buChar char="•"/>
              <a:defRPr sz="1800"/>
            </a:pPr>
            <a:endParaRPr lang="en-US" dirty="0">
              <a:solidFill>
                <a:schemeClr val="bg1"/>
              </a:solidFill>
            </a:endParaRPr>
          </a:p>
          <a:p>
            <a:pPr marL="285750" indent="-285750">
              <a:buFont typeface="Arial" panose="020B0604020202020204" pitchFamily="34" charset="0"/>
              <a:buChar char="•"/>
              <a:defRPr sz="1800"/>
            </a:pPr>
            <a:r>
              <a:rPr lang="en-US" dirty="0">
                <a:solidFill>
                  <a:schemeClr val="bg1"/>
                </a:solidFill>
              </a:rPr>
              <a:t>McKinsey &amp; Company. (2022). How to create an agile organization. https://www.mckinsey.com/capabilities/people-and-organizational-performance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596</Words>
  <Application>Microsoft Office PowerPoint</Application>
  <PresentationFormat>Widescreen</PresentationFormat>
  <Paragraphs>80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Spencer Rosenberry</dc:creator>
  <cp:keywords/>
  <dc:description>generated using python-pptx</dc:description>
  <cp:lastModifiedBy>Spencer Rosenberry</cp:lastModifiedBy>
  <cp:revision>6</cp:revision>
  <dcterms:created xsi:type="dcterms:W3CDTF">2013-01-27T09:14:16Z</dcterms:created>
  <dcterms:modified xsi:type="dcterms:W3CDTF">2026-02-18T02:50:42Z</dcterms:modified>
  <cp:category/>
</cp:coreProperties>
</file>